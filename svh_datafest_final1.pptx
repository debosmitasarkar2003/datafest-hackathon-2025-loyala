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FDED9D-3149-DA9E-7F71-B93F2B3E8A53}" v="6" dt="2026-03-22T03:55:03.7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Mustafa Khan" userId="S::mkhan309@depaul.edu::bd9341b9-8f96-40b5-bcb0-11f6b7e24f8f" providerId="AD" clId="Web-{55FDED9D-3149-DA9E-7F71-B93F2B3E8A53}"/>
    <pc:docChg chg="addSld delSld">
      <pc:chgData name="Mohammed Mustafa Khan" userId="S::mkhan309@depaul.edu::bd9341b9-8f96-40b5-bcb0-11f6b7e24f8f" providerId="AD" clId="Web-{55FDED9D-3149-DA9E-7F71-B93F2B3E8A53}" dt="2026-03-22T03:55:03.709" v="5"/>
      <pc:docMkLst>
        <pc:docMk/>
      </pc:docMkLst>
      <pc:sldChg chg="new del">
        <pc:chgData name="Mohammed Mustafa Khan" userId="S::mkhan309@depaul.edu::bd9341b9-8f96-40b5-bcb0-11f6b7e24f8f" providerId="AD" clId="Web-{55FDED9D-3149-DA9E-7F71-B93F2B3E8A53}" dt="2026-03-22T03:55:03.709" v="5"/>
        <pc:sldMkLst>
          <pc:docMk/>
          <pc:sldMk cId="3119857081" sldId="266"/>
        </pc:sldMkLst>
      </pc:sldChg>
      <pc:sldChg chg="new del">
        <pc:chgData name="Mohammed Mustafa Khan" userId="S::mkhan309@depaul.edu::bd9341b9-8f96-40b5-bcb0-11f6b7e24f8f" providerId="AD" clId="Web-{55FDED9D-3149-DA9E-7F71-B93F2B3E8A53}" dt="2026-03-22T03:55:01.694" v="3"/>
        <pc:sldMkLst>
          <pc:docMk/>
          <pc:sldMk cId="2064743088" sldId="267"/>
        </pc:sldMkLst>
      </pc:sldChg>
      <pc:sldChg chg="new del">
        <pc:chgData name="Mohammed Mustafa Khan" userId="S::mkhan309@depaul.edu::bd9341b9-8f96-40b5-bcb0-11f6b7e24f8f" providerId="AD" clId="Web-{55FDED9D-3149-DA9E-7F71-B93F2B3E8A53}" dt="2026-03-22T03:55:02.522" v="4"/>
        <pc:sldMkLst>
          <pc:docMk/>
          <pc:sldMk cId="773171401" sldId="268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5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5_0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6_0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6_0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6_0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Did screened patients get behavioral health care?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Care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EA4-44E7-AC8A-BDCCF002594B}"/>
              </c:ext>
            </c:extLst>
          </c:dPt>
          <c:dPt>
            <c:idx val="1"/>
            <c:bubble3D val="0"/>
            <c:spPr>
              <a:solidFill>
                <a:srgbClr val="D85A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EA4-44E7-AC8A-BDCCF002594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EA4-44E7-AC8A-BDCCF002594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EA4-44E7-AC8A-BDCCF002594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Got care eventually (14.4%)</c:v>
                </c:pt>
                <c:pt idx="1">
                  <c:v>Never got care (85.6%)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14.4</c:v>
                </c:pt>
                <c:pt idx="1">
                  <c:v>85.6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EA4-44E7-AC8A-BDCCF00259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4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Care funnel — how many got help?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88878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D6B-4486-B381-9649C3EA7555}"/>
              </c:ext>
            </c:extLst>
          </c:dPt>
          <c:dPt>
            <c:idx val="1"/>
            <c:invertIfNegative val="0"/>
            <c:bubble3D val="0"/>
            <c:spPr>
              <a:solidFill>
                <a:srgbClr val="7F77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D6B-4486-B381-9649C3EA7555}"/>
              </c:ext>
            </c:extLst>
          </c:dPt>
          <c:dPt>
            <c:idx val="2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D6B-4486-B381-9649C3EA7555}"/>
              </c:ext>
            </c:extLst>
          </c:dPt>
          <c:dPt>
            <c:idx val="3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D6B-4486-B381-9649C3EA755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Screened
positive</c:v>
                </c:pt>
                <c:pt idx="1">
                  <c:v>Care
within 90d</c:v>
                </c:pt>
                <c:pt idx="2">
                  <c:v>Care
within 30d</c:v>
                </c:pt>
                <c:pt idx="3">
                  <c:v>Any care
ever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1048</c:v>
                </c:pt>
                <c:pt idx="1">
                  <c:v>15</c:v>
                </c:pt>
                <c:pt idx="2">
                  <c:v>4</c:v>
                </c:pt>
                <c:pt idx="3">
                  <c:v>151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D6B-4486-B381-9649C3EA75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8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4F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Care rate by severity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who got care</c:v>
                </c:pt>
              </c:strCache>
            </c:strRef>
          </c:tx>
          <c:spPr>
            <a:solidFill>
              <a:srgbClr val="BA751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790-445B-AEB5-80683953DFE9}"/>
              </c:ext>
            </c:extLst>
          </c:dPt>
          <c:dPt>
            <c:idx val="1"/>
            <c:invertIfNegative val="0"/>
            <c:bubble3D val="0"/>
            <c:spPr>
              <a:solidFill>
                <a:srgbClr val="D85A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790-445B-AEB5-80683953DFE9}"/>
              </c:ext>
            </c:extLst>
          </c:dPt>
          <c:dPt>
            <c:idx val="2"/>
            <c:invertIfNegative val="0"/>
            <c:bubble3D val="0"/>
            <c:spPr>
              <a:solidFill>
                <a:srgbClr val="8B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790-445B-AEB5-80683953DFE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Mild
(10-13)</c:v>
                </c:pt>
                <c:pt idx="1">
                  <c:v>Moderate
(14-19)</c:v>
                </c:pt>
                <c:pt idx="2">
                  <c:v>Severe
(20+)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12.1</c:v>
                </c:pt>
                <c:pt idx="1">
                  <c:v>16.8</c:v>
                </c:pt>
                <c:pt idx="2">
                  <c:v>20.8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790-445B-AEB5-80683953DF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E8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4F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Care rate vs transport barrier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who got care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D7C-48AC-A834-4962475802C6}"/>
              </c:ext>
            </c:extLst>
          </c:dPt>
          <c:dPt>
            <c:idx val="1"/>
            <c:invertIfNegative val="0"/>
            <c:bubble3D val="0"/>
            <c:spPr>
              <a:solidFill>
                <a:srgbClr val="D85A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D7C-48AC-A834-4962475802C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barrier</c:v>
                </c:pt>
                <c:pt idx="1">
                  <c:v>Has barrier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13.7</c:v>
                </c:pt>
                <c:pt idx="1">
                  <c:v>21.2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D7C-48AC-A834-4962475802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E8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4F8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Care rate by 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who got care</c:v>
                </c:pt>
              </c:strCache>
            </c:strRef>
          </c:tx>
          <c:spPr>
            <a:solidFill>
              <a:srgbClr val="D85A3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B74-4B03-BFAF-9C99DEFAE83A}"/>
              </c:ext>
            </c:extLst>
          </c:dPt>
          <c:dPt>
            <c:idx val="1"/>
            <c:invertIfNegative val="0"/>
            <c:bubble3D val="0"/>
            <c:spPr>
              <a:solidFill>
                <a:srgbClr val="7F77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B74-4B03-BFAF-9C99DEFAE83A}"/>
              </c:ext>
            </c:extLst>
          </c:dPt>
          <c:dPt>
            <c:idx val="2"/>
            <c:invertIfNegative val="0"/>
            <c:bubble3D val="0"/>
            <c:spPr>
              <a:solidFill>
                <a:srgbClr val="7F77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B74-4B03-BFAF-9C99DEFAE83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Under 18</c:v>
                </c:pt>
                <c:pt idx="1">
                  <c:v>18–34</c:v>
                </c:pt>
                <c:pt idx="2">
                  <c:v>35–49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16.600000000000001</c:v>
                </c:pt>
                <c:pt idx="2">
                  <c:v>13.9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B74-4B03-BFAF-9C99DEFAE8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E8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3AF730-866B-4775-83D7-30BF7689CEBA}" type="datetimeFigureOut">
              <a:t>3/21/2026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1EAE3E-C4DB-49EC-AAD5-C8A433D34EA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183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3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SVH DATAFEST 2026  ·  PATIENT JOURNEY ANALYSIS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5486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Asked</a:t>
            </a:r>
            <a:endParaRPr lang="en-US" sz="5800"/>
          </a:p>
          <a:p>
            <a:pPr marL="0" indent="0" algn="l">
              <a:buNone/>
            </a:pPr>
            <a:r>
              <a:rPr lang="en-US" sz="5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Help.</a:t>
            </a:r>
            <a:endParaRPr lang="en-US" sz="5800"/>
          </a:p>
        </p:txBody>
      </p:sp>
      <p:sp>
        <p:nvSpPr>
          <p:cNvPr id="5" name="Text 3"/>
          <p:cNvSpPr/>
          <p:nvPr/>
        </p:nvSpPr>
        <p:spPr>
          <a:xfrm>
            <a:off x="320040" y="265176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Anyone</a:t>
            </a:r>
            <a:endParaRPr lang="en-US" sz="5800"/>
          </a:p>
          <a:p>
            <a:pPr marL="0" indent="0" algn="l">
              <a:buNone/>
            </a:pPr>
            <a:r>
              <a:rPr lang="en-US" sz="5800" b="1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Listen?</a:t>
            </a:r>
            <a:endParaRPr lang="en-US" sz="5800"/>
          </a:p>
        </p:txBody>
      </p:sp>
      <p:sp>
        <p:nvSpPr>
          <p:cNvPr id="6" name="Shape 4"/>
          <p:cNvSpPr/>
          <p:nvPr/>
        </p:nvSpPr>
        <p:spPr>
          <a:xfrm>
            <a:off x="6400800" y="548640"/>
            <a:ext cx="2468880" cy="132588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65836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7.6M</a:t>
            </a:r>
            <a:endParaRPr lang="en-US" sz="3600"/>
          </a:p>
        </p:txBody>
      </p:sp>
      <p:sp>
        <p:nvSpPr>
          <p:cNvPr id="8" name="Text 6"/>
          <p:cNvSpPr/>
          <p:nvPr/>
        </p:nvSpPr>
        <p:spPr>
          <a:xfrm>
            <a:off x="6400800" y="12618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 encounters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6400800" y="2029968"/>
            <a:ext cx="2468880" cy="132588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139696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1,048</a:t>
            </a:r>
            <a:endParaRPr lang="en-US" sz="3600"/>
          </a:p>
        </p:txBody>
      </p:sp>
      <p:sp>
        <p:nvSpPr>
          <p:cNvPr id="11" name="Text 9"/>
          <p:cNvSpPr/>
          <p:nvPr/>
        </p:nvSpPr>
        <p:spPr>
          <a:xfrm>
            <a:off x="6400800" y="27432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Depression-flagged patients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6400800" y="3511296"/>
            <a:ext cx="2468880" cy="132588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621024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3600"/>
          </a:p>
        </p:txBody>
      </p:sp>
      <p:sp>
        <p:nvSpPr>
          <p:cNvPr id="14" name="Text 12"/>
          <p:cNvSpPr/>
          <p:nvPr/>
        </p:nvSpPr>
        <p:spPr>
          <a:xfrm>
            <a:off x="6400800" y="42245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got mental health care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 DataFest 2026  ·  Mental Health Patient Journey  ·  Stormont Vail Health, Kansas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years of real patient data from Stormont Vail Health, Kansas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320040" y="1572768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72768"/>
            <a:ext cx="2011680" cy="6400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64208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7.6M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411480" y="21762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encounters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– 2025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2468880" y="1572768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572768"/>
            <a:ext cx="201168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664208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947K</a:t>
            </a:r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2560320" y="21762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patients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system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4617720" y="1572768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572768"/>
            <a:ext cx="2011680" cy="6400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664208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files</a:t>
            </a:r>
            <a:endParaRPr lang="en-US" sz="2800"/>
          </a:p>
        </p:txBody>
      </p:sp>
      <p:sp>
        <p:nvSpPr>
          <p:cNvPr id="16" name="Text 14"/>
          <p:cNvSpPr/>
          <p:nvPr/>
        </p:nvSpPr>
        <p:spPr>
          <a:xfrm>
            <a:off x="4709160" y="21762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data files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care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6766560" y="1572768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572768"/>
            <a:ext cx="2011680" cy="6400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664208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/>
          </a:p>
        </p:txBody>
      </p:sp>
      <p:sp>
        <p:nvSpPr>
          <p:cNvPr id="20" name="Text 18"/>
          <p:cNvSpPr/>
          <p:nvPr/>
        </p:nvSpPr>
        <p:spPr>
          <a:xfrm>
            <a:off x="6858000" y="21762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SDOH survey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tracked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320040" y="2944368"/>
            <a:ext cx="85039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03580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7 files connect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3383280" y="3456432"/>
            <a:ext cx="2560320" cy="347472"/>
          </a:xfrm>
          <a:prstGeom prst="rect">
            <a:avLst/>
          </a:prstGeom>
          <a:solidFill>
            <a:srgbClr val="F4F4F8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34747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encounters.csv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3456432" y="3639312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7.6M rows · hub file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457200" y="3456432"/>
            <a:ext cx="2560320" cy="347472"/>
          </a:xfrm>
          <a:prstGeom prst="rect">
            <a:avLst/>
          </a:prstGeom>
          <a:solidFill>
            <a:srgbClr val="F4F4F8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4747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patients.csv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530352" y="3639312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947K rows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2560320" cy="347472"/>
          </a:xfrm>
          <a:prstGeom prst="rect">
            <a:avLst/>
          </a:prstGeom>
          <a:solidFill>
            <a:srgbClr val="F4F4F8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417880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diagnosis.csv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530352" y="4343400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 rows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2560320" cy="347472"/>
          </a:xfrm>
          <a:prstGeom prst="rect">
            <a:avLst/>
          </a:prstGeom>
          <a:solidFill>
            <a:srgbClr val="F4F4F8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459028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social_det.csv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530352" y="4754880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3.9M rows · SDOH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6217920" y="3456432"/>
            <a:ext cx="2560320" cy="347472"/>
          </a:xfrm>
          <a:prstGeom prst="rect">
            <a:avLst/>
          </a:prstGeom>
          <a:solidFill>
            <a:srgbClr val="F4F4F8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91072" y="34747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departments.csv</a:t>
            </a:r>
            <a:endParaRPr lang="en-US" sz="1000"/>
          </a:p>
        </p:txBody>
      </p:sp>
      <p:sp>
        <p:nvSpPr>
          <p:cNvPr id="37" name="Text 35"/>
          <p:cNvSpPr/>
          <p:nvPr/>
        </p:nvSpPr>
        <p:spPr>
          <a:xfrm>
            <a:off x="6291072" y="3639312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11.6K rows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6217920" y="4160520"/>
            <a:ext cx="2560320" cy="347472"/>
          </a:xfrm>
          <a:prstGeom prst="rect">
            <a:avLst/>
          </a:prstGeom>
          <a:solidFill>
            <a:srgbClr val="F4F4F8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417880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providers.csv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6291072" y="4343400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299K rows</a:t>
            </a:r>
            <a:endParaRPr lang="en-US" sz="900"/>
          </a:p>
        </p:txBody>
      </p:sp>
      <p:sp>
        <p:nvSpPr>
          <p:cNvPr id="41" name="Shape 39"/>
          <p:cNvSpPr/>
          <p:nvPr/>
        </p:nvSpPr>
        <p:spPr>
          <a:xfrm>
            <a:off x="6217920" y="4572000"/>
            <a:ext cx="2560320" cy="347472"/>
          </a:xfrm>
          <a:prstGeom prst="rect">
            <a:avLst/>
          </a:prstGeom>
          <a:solidFill>
            <a:srgbClr val="F4F4F8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91072" y="459028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tigercensus.csv</a:t>
            </a:r>
            <a:endParaRPr lang="en-US" sz="1000"/>
          </a:p>
        </p:txBody>
      </p:sp>
      <p:sp>
        <p:nvSpPr>
          <p:cNvPr id="43" name="Text 41"/>
          <p:cNvSpPr/>
          <p:nvPr/>
        </p:nvSpPr>
        <p:spPr>
          <a:xfrm>
            <a:off x="6291072" y="4754880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2.5K rows · KS geo</a:t>
            </a:r>
            <a:endParaRPr lang="en-US" sz="900"/>
          </a:p>
        </p:txBody>
      </p:sp>
      <p:sp>
        <p:nvSpPr>
          <p:cNvPr id="44" name="Shape 42"/>
          <p:cNvSpPr/>
          <p:nvPr/>
        </p:nvSpPr>
        <p:spPr>
          <a:xfrm>
            <a:off x="3383280" y="3456432"/>
            <a:ext cx="2560320" cy="54864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83280" y="3493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encounters.csv</a:t>
            </a:r>
            <a:endParaRPr lang="en-US" sz="1200"/>
          </a:p>
        </p:txBody>
      </p:sp>
      <p:sp>
        <p:nvSpPr>
          <p:cNvPr id="46" name="Text 44"/>
          <p:cNvSpPr/>
          <p:nvPr/>
        </p:nvSpPr>
        <p:spPr>
          <a:xfrm>
            <a:off x="3383280" y="37307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7.6M rows · central hub</a:t>
            </a:r>
            <a:endParaRPr lang="en-US" sz="900"/>
          </a:p>
        </p:txBody>
      </p:sp>
      <p:sp>
        <p:nvSpPr>
          <p:cNvPr id="47" name="Text 45"/>
          <p:cNvSpPr/>
          <p:nvPr/>
        </p:nvSpPr>
        <p:spPr>
          <a:xfrm>
            <a:off x="548640" y="477316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focus: social_determinants → depression screening → behavioral health visits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WE USED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Edinburgh Depression Scale — a real medical tool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320040" y="1572768"/>
            <a:ext cx="4114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72768"/>
            <a:ext cx="4114800" cy="6400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38404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10-question survey given to patients during their visit.
Each question asks how the patient has been feeling — for example, have they felt sad, unable to sleep, or lost their enjoyment in things.
Each answer is scored 0 to 3.
Total score = 0 to 30.
</a:t>
            </a:r>
            <a:r>
              <a:rPr lang="en-US" sz="1250" b="1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10 or above</a:t>
            </a:r>
            <a:r>
              <a:rPr lang="en-US" sz="125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clinical threshold for depression. This is the globally accepted standard — used by doctors worldwide, including SVH.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4709160" y="1572768"/>
            <a:ext cx="4114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572768"/>
            <a:ext cx="4114800" cy="6400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6916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classified 1,048 patients</a:t>
            </a:r>
            <a:endParaRPr lang="en-US" sz="1500"/>
          </a:p>
        </p:txBody>
      </p:sp>
      <p:sp>
        <p:nvSpPr>
          <p:cNvPr id="12" name="Shape 10"/>
          <p:cNvSpPr/>
          <p:nvPr/>
        </p:nvSpPr>
        <p:spPr>
          <a:xfrm>
            <a:off x="4800600" y="2176272"/>
            <a:ext cx="3840480" cy="566928"/>
          </a:xfrm>
          <a:prstGeom prst="rect">
            <a:avLst/>
          </a:prstGeom>
          <a:solidFill>
            <a:srgbClr val="F4F4F8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2176272"/>
            <a:ext cx="64008" cy="5669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22219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0–9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4956048" y="24505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depression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6858000" y="228600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14,494 rows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4800600" y="2862072"/>
            <a:ext cx="3840480" cy="566928"/>
          </a:xfrm>
          <a:prstGeom prst="rect">
            <a:avLst/>
          </a:prstGeom>
          <a:solidFill>
            <a:srgbClr val="F4F4F8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2862072"/>
            <a:ext cx="64008" cy="56692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29077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10–13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4956048" y="3136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depression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6858000" y="297180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619 patients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4800600" y="3547872"/>
            <a:ext cx="3840480" cy="566928"/>
          </a:xfrm>
          <a:prstGeom prst="rect">
            <a:avLst/>
          </a:prstGeom>
          <a:solidFill>
            <a:srgbClr val="F4F4F8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3547872"/>
            <a:ext cx="64008" cy="56692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35935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14–19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4956048" y="38221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depression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6858000" y="365760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328 patients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4800600" y="4233672"/>
            <a:ext cx="3840480" cy="566928"/>
          </a:xfrm>
          <a:prstGeom prst="rect">
            <a:avLst/>
          </a:prstGeom>
          <a:solidFill>
            <a:srgbClr val="F4F4F8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4233672"/>
            <a:ext cx="64008" cy="56692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42793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20–30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4956048" y="45079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depression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6858000" y="434340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patients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positive screens (score 10+): 1,048 unique patients  ·  From 15,542 total Edinburgh screenings in the social_determinants file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182880" y="594360"/>
            <a:ext cx="4389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11000"/>
          </a:p>
        </p:txBody>
      </p:sp>
      <p:sp>
        <p:nvSpPr>
          <p:cNvPr id="4" name="Text 2"/>
          <p:cNvSpPr/>
          <p:nvPr/>
        </p:nvSpPr>
        <p:spPr>
          <a:xfrm>
            <a:off x="182880" y="23774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clinically flagged</a:t>
            </a:r>
            <a:endParaRPr lang="en-US" sz="1700"/>
          </a:p>
          <a:p>
            <a:pPr marL="0" indent="0" algn="ctr">
              <a:buNone/>
            </a:pPr>
            <a:r>
              <a:rPr lang="en-US" sz="1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NEVER received</a:t>
            </a:r>
            <a:endParaRPr lang="en-US" sz="1700"/>
          </a:p>
          <a:p>
            <a:pPr marL="0" indent="0" algn="ctr">
              <a:buNone/>
            </a:pPr>
            <a:r>
              <a:rPr lang="en-US" sz="1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health care</a:t>
            </a:r>
            <a:endParaRPr lang="en-US" sz="1700"/>
          </a:p>
        </p:txBody>
      </p:sp>
      <p:sp>
        <p:nvSpPr>
          <p:cNvPr id="5" name="Shape 3"/>
          <p:cNvSpPr/>
          <p:nvPr/>
        </p:nvSpPr>
        <p:spPr>
          <a:xfrm>
            <a:off x="4937760" y="594360"/>
            <a:ext cx="3931920" cy="9601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649224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1,048</a:t>
            </a:r>
            <a:endParaRPr lang="en-US" sz="3200"/>
          </a:p>
        </p:txBody>
      </p:sp>
      <p:sp>
        <p:nvSpPr>
          <p:cNvPr id="7" name="Text 5"/>
          <p:cNvSpPr/>
          <p:nvPr/>
        </p:nvSpPr>
        <p:spPr>
          <a:xfrm>
            <a:off x="5074920" y="11612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clinically flagged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937760" y="1673352"/>
            <a:ext cx="3931920" cy="9601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172821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</a:t>
            </a:r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5074920" y="22402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care within 30 days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4937760" y="2752344"/>
            <a:ext cx="3931920" cy="9601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2807208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1.4%</a:t>
            </a:r>
            <a:endParaRPr lang="en-US" sz="3200"/>
          </a:p>
        </p:txBody>
      </p:sp>
      <p:sp>
        <p:nvSpPr>
          <p:cNvPr id="13" name="Text 11"/>
          <p:cNvSpPr/>
          <p:nvPr/>
        </p:nvSpPr>
        <p:spPr>
          <a:xfrm>
            <a:off x="5074920" y="33192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care within 90 days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4937760" y="3831336"/>
            <a:ext cx="3931920" cy="9601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388620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417 days</a:t>
            </a:r>
            <a:endParaRPr lang="en-US" sz="3200"/>
          </a:p>
        </p:txBody>
      </p:sp>
      <p:sp>
        <p:nvSpPr>
          <p:cNvPr id="16" name="Text 14"/>
          <p:cNvSpPr/>
          <p:nvPr/>
        </p:nvSpPr>
        <p:spPr>
          <a:xfrm>
            <a:off x="5074920" y="4398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wait — over a year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8280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Edinburgh Depression Scale scores in social_determinants.csv  ·  Behavioral health visits matched via encounters.csv + departments.csv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charts — one complete picture</a:t>
            </a:r>
            <a:endParaRPr lang="en-US" sz="20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1234440"/>
            <a:ext cx="87782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— THE OVERALL PICTURE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screened does not mean getting help</a:t>
            </a:r>
            <a:endParaRPr lang="en-US" sz="220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32588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572000" y="1325880"/>
          <a:ext cx="42976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— WHO GETS LEFT BEHIND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not random — the same people are always missed</a:t>
            </a:r>
            <a:endParaRPr lang="en-US" sz="2000"/>
          </a:p>
        </p:txBody>
      </p:sp>
      <p:graphicFrame>
        <p:nvGraphicFramePr>
          <p:cNvPr id="5" name="Chart 0"/>
          <p:cNvGraphicFramePr/>
          <p:nvPr/>
        </p:nvGraphicFramePr>
        <p:xfrm>
          <a:off x="182880" y="1325880"/>
          <a:ext cx="2743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3200400" y="1325880"/>
          <a:ext cx="2743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2"/>
          <p:cNvGraphicFramePr/>
          <p:nvPr/>
        </p:nvGraphicFramePr>
        <p:xfrm>
          <a:off x="6217920" y="1325880"/>
          <a:ext cx="2743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COST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groups the data told us about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4160520" cy="160020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61872"/>
            <a:ext cx="73152" cy="16002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457200" y="18836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under 18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children were clinically flagged for depression. Not a single one received behavioral health follow-up. Zero.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709160" y="1261872"/>
            <a:ext cx="4160520" cy="160020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261872"/>
            <a:ext cx="73152" cy="16002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716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417d</a:t>
            </a:r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4892040" y="18836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 year to wait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4892040" y="217627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14.4% who did eventually get care, the median wait was 417 days. That is not a gap — that is a system failure.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274320" y="3044952"/>
            <a:ext cx="4160520" cy="160020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044952"/>
            <a:ext cx="73152" cy="160020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546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20.8%</a:t>
            </a:r>
            <a:endParaRPr lang="en-US" sz="2800"/>
          </a:p>
        </p:txBody>
      </p:sp>
      <p:sp>
        <p:nvSpPr>
          <p:cNvPr id="17" name="Text 15"/>
          <p:cNvSpPr/>
          <p:nvPr/>
        </p:nvSpPr>
        <p:spPr>
          <a:xfrm>
            <a:off x="457200" y="36667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severe cases missed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457200" y="39593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scoring 20+ on the Edinburgh Scale — clinically severe depression — less than 1 in 5 ever reached behavioral health.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709160" y="3044952"/>
            <a:ext cx="4160520" cy="160020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044952"/>
            <a:ext cx="73152" cy="1600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1546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21.2%</a:t>
            </a:r>
            <a:endParaRPr lang="en-US" sz="2800"/>
          </a:p>
        </p:txBody>
      </p:sp>
      <p:sp>
        <p:nvSpPr>
          <p:cNvPr id="22" name="Text 20"/>
          <p:cNvSpPr/>
          <p:nvPr/>
        </p:nvSpPr>
        <p:spPr>
          <a:xfrm>
            <a:off x="4892040" y="36667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barrier patients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4892040" y="39593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flagging transport issues had slightly higher contact (21.2%) but still only 1 in 5 got care. Distance is a real barrier.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DID IT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from raw data to insight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8503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53312"/>
            <a:ext cx="73152" cy="768096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44752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/>
          </a:p>
        </p:txBody>
      </p:sp>
      <p:sp>
        <p:nvSpPr>
          <p:cNvPr id="8" name="Shape 6"/>
          <p:cNvSpPr/>
          <p:nvPr/>
        </p:nvSpPr>
        <p:spPr>
          <a:xfrm>
            <a:off x="1143000" y="1508760"/>
            <a:ext cx="18288" cy="457200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1408176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depression screening data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1261872" y="1719072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social_determinants.csv (3.9M rows) for Domain = 'Depression'. Found 15,542 Edinburgh Depression Scale scores. Filtered to score ≥ 10 (clinical threshold) → 1,048 unique patients.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320040" y="2249424"/>
            <a:ext cx="8503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249424"/>
            <a:ext cx="73152" cy="76809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/>
          </a:p>
        </p:txBody>
      </p:sp>
      <p:sp>
        <p:nvSpPr>
          <p:cNvPr id="14" name="Shape 12"/>
          <p:cNvSpPr/>
          <p:nvPr/>
        </p:nvSpPr>
        <p:spPr>
          <a:xfrm>
            <a:off x="1143000" y="2404872"/>
            <a:ext cx="18288" cy="457200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1872" y="230428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behavioral health visits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1261872" y="2615184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psychiatry departments from departments.csv. Matched F-code mental health diagnoses from diagnosis.csv. Found 119,000+ behavioral health encounters across all 4 years.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320040" y="3145536"/>
            <a:ext cx="8503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45536"/>
            <a:ext cx="73152" cy="768096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36976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/>
          </a:p>
        </p:txBody>
      </p:sp>
      <p:sp>
        <p:nvSpPr>
          <p:cNvPr id="20" name="Shape 18"/>
          <p:cNvSpPr/>
          <p:nvPr/>
        </p:nvSpPr>
        <p:spPr>
          <a:xfrm>
            <a:off x="1143000" y="3300984"/>
            <a:ext cx="18288" cy="457200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1872" y="3200400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screening to follow-up care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1261872" y="3511296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flagged patient, checked if they had a behavioral health visit AFTER their screening date. Measured the gap in days. Classified as 30-day, 90-day, or never.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320040" y="4041648"/>
            <a:ext cx="8503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041648"/>
            <a:ext cx="73152" cy="768096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133088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/>
          </a:p>
        </p:txBody>
      </p:sp>
      <p:sp>
        <p:nvSpPr>
          <p:cNvPr id="26" name="Shape 24"/>
          <p:cNvSpPr/>
          <p:nvPr/>
        </p:nvSpPr>
        <p:spPr>
          <a:xfrm>
            <a:off x="1143000" y="4197096"/>
            <a:ext cx="18288" cy="457200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61872" y="4096512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groups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1261872" y="4407408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patients by age, severity score, and transport barrier (from SDOH survey). Identified which groups were most likely to fall through the cracks.</a:t>
            </a:r>
            <a:endParaRPr lang="en-US"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RECOMMENDATION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screening works.</a:t>
            </a:r>
            <a:endParaRPr lang="en-US" sz="3200"/>
          </a:p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referral pathway is broken.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320040" y="2029968"/>
            <a:ext cx="8503920" cy="82296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594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1115568" y="2194560"/>
            <a:ext cx="18288" cy="475488"/>
          </a:xfrm>
          <a:prstGeom prst="rect">
            <a:avLst/>
          </a:prstGeom>
          <a:solidFill>
            <a:srgbClr val="44445A"/>
          </a:solidFill>
          <a:ln w="12700">
            <a:solidFill>
              <a:srgbClr val="4444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84832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follow-up appointment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1234440" y="2414016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patient scoring 10+ on the Edinburgh Scale should leave with a psychiatry appointment already booked — not a referral slip, a real scheduled appointment. Before they walk out the door.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20040" y="2990088"/>
            <a:ext cx="8503920" cy="82296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63240"/>
            <a:ext cx="594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1115568" y="3154680"/>
            <a:ext cx="18288" cy="475488"/>
          </a:xfrm>
          <a:prstGeom prst="rect">
            <a:avLst/>
          </a:prstGeom>
          <a:solidFill>
            <a:srgbClr val="44445A"/>
          </a:solidFill>
          <a:ln w="12700">
            <a:solidFill>
              <a:srgbClr val="4444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3044952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children and severe cases immediately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1234440" y="3374136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Under-18 patients and scores of 20+ should trigger a same-week urgent referral. Zero exceptions. The data shows these are the groups most likely to be completely missed.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320040" y="3950208"/>
            <a:ext cx="8503920" cy="82296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23360"/>
            <a:ext cx="594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1115568" y="4114800"/>
            <a:ext cx="18288" cy="475488"/>
          </a:xfrm>
          <a:prstGeom prst="rect">
            <a:avLst/>
          </a:prstGeom>
          <a:solidFill>
            <a:srgbClr val="44445A"/>
          </a:solidFill>
          <a:ln w="12700">
            <a:solidFill>
              <a:srgbClr val="4444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4005072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 — measure what happens next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1234440" y="4334256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9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referral completion rates monthly, broken down by age, severity, and transport barrier. SVH already collects this data. Use it to measure whether the fix is working.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320040" y="486460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SVH already knows who needs help. The data is there. The tool is there. Now make the next step automatic.</a:t>
            </a:r>
            <a:endParaRPr lang="en-US" sz="1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Health Journey — SVH DataFest 2026</dc:title>
  <dc:subject>PptxGenJS Presentation</dc:subject>
  <dc:creator>PptxGenJS</dc:creator>
  <cp:revision>1</cp:revision>
  <dcterms:created xsi:type="dcterms:W3CDTF">2026-03-21T21:09:28Z</dcterms:created>
  <dcterms:modified xsi:type="dcterms:W3CDTF">2026-03-22T03:55:40Z</dcterms:modified>
</cp:coreProperties>
</file>